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m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deck/assets/orb_cyan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863840" y="-1828800"/>
            <a:ext cx="6400800" cy="6400800"/>
          </a:xfrm>
          <a:prstGeom prst="rect">
            <a:avLst/>
          </a:prstGeom>
        </p:spPr>
      </p:pic>
      <p:pic>
        <p:nvPicPr>
          <p:cNvPr id="4" name="Image 2" descr="/home/claude/deck/assets/orb_red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-2286000" y="3474720"/>
            <a:ext cx="5486400" cy="54864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W O R K   T H R E A T   B R I E F I N G</a:t>
            </a:r>
            <a:endParaRPr lang="en-US" sz="1400" dirty="0"/>
          </a:p>
        </p:txBody>
      </p:sp>
      <p:sp>
        <p:nvSpPr>
          <p:cNvPr id="6" name="Text 1"/>
          <p:cNvSpPr txBox="1"/>
          <p:nvPr/>
        </p:nvSpPr>
        <p:spPr>
          <a:xfrm>
            <a:off x="777240" y="187452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4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WEB
</a:t>
            </a:r>
            <a:pPr indent="0" marL="0">
              <a:lnSpc>
                <a:spcPts val="7400"/>
              </a:lnSpc>
              <a:buNone/>
            </a:pPr>
            <a:r>
              <a:rPr lang="en-US" sz="7200" b="1" dirty="0">
                <a:solidFill>
                  <a:srgbClr val="FF1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</a:t>
            </a:r>
            <a:endParaRPr lang="en-US" sz="7200" dirty="0"/>
          </a:p>
        </p:txBody>
      </p:sp>
      <p:sp>
        <p:nvSpPr>
          <p:cNvPr id="7" name="Text 2"/>
          <p:cNvSpPr txBox="1"/>
          <p:nvPr/>
        </p:nvSpPr>
        <p:spPr>
          <a:xfrm>
            <a:off x="822960" y="4709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adversaries breach networks and web systems — and the live simulations that show each attack unfolding step by step.</a:t>
            </a:r>
            <a:endParaRPr lang="en-US" sz="1500" dirty="0"/>
          </a:p>
        </p:txBody>
      </p:sp>
      <p:sp>
        <p:nvSpPr>
          <p:cNvPr id="8" name="Shape 3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1C2555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22960" y="5989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822960" y="6382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950" dirty="0"/>
          </a:p>
        </p:txBody>
      </p:sp>
      <p:sp>
        <p:nvSpPr>
          <p:cNvPr id="11" name="Text 6"/>
          <p:cNvSpPr txBox="1"/>
          <p:nvPr/>
        </p:nvSpPr>
        <p:spPr>
          <a:xfrm>
            <a:off x="3474720" y="5989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3474720" y="6382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5989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6382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SIMULATIONS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8778240" y="5989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CLASSIFIED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8778240" y="6382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LEVEL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BATTLEFIELD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Threat Landscape Is Never Idle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stack — from the wire to the browser — is a potential entry point. Attacks below are the ones that show up again and again in breach reports.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2,200+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PER DAY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935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cyberattack is attempted roughly every 39 seconds worldwide.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260604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1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~$4.9M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BREACH COST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5935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global cost of a single confirmed data breach.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617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277 days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+ CONTAIN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4681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lifecycle of a breach from first entry to full containment.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448056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4617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WEB/EMAIL LAYER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4681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intrusions begin with phishing, malicious links, or exposed web apps.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 CHAIN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Cyberattack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intrusions follow a chain, not a single move. Break any link and the attack stalls.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783080" cy="3108960"/>
          </a:xfrm>
          <a:prstGeom prst="roundRect">
            <a:avLst>
              <a:gd name="adj" fmla="val 4103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pic>
        <p:nvPicPr>
          <p:cNvPr id="7" name="Image 0" descr="/home/claude/deck/assets/ey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2926080"/>
            <a:ext cx="731520" cy="731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" y="38404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2519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target: domains, open ports, employees, exposed services.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3749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1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68880" y="2331720"/>
            <a:ext cx="1783080" cy="3108960"/>
          </a:xfrm>
          <a:prstGeom prst="roundRect">
            <a:avLst>
              <a:gd name="adj" fmla="val 4103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0604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pic>
        <p:nvPicPr>
          <p:cNvPr id="13" name="Image 1" descr="/home/claude/deck/assets/bug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660" y="292608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578608" y="38404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Weaponize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2606040" y="42519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exploit, malicious payload, or phishing lure.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251960" y="3749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1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389120" y="2331720"/>
            <a:ext cx="1783080" cy="3108960"/>
          </a:xfrm>
          <a:prstGeom prst="roundRect">
            <a:avLst>
              <a:gd name="adj" fmla="val 4103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2628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pic>
        <p:nvPicPr>
          <p:cNvPr id="19" name="Image 2" descr="/home/claude/deck/assets/envelop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292608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498848" y="38404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4526280" y="42519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— email, malicious link, compromised website, USB.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6172200" y="3749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1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309360" y="2331720"/>
            <a:ext cx="1783080" cy="3108960"/>
          </a:xfrm>
          <a:prstGeom prst="roundRect">
            <a:avLst>
              <a:gd name="adj" fmla="val 4103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4652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pic>
        <p:nvPicPr>
          <p:cNvPr id="25" name="Image 3" descr="/home/claude/deck/assets/unlock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140" y="2926080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19088" y="38404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6446520" y="42519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vulnerability to gain code execution or access.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8092440" y="3749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1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8229600" y="2331720"/>
            <a:ext cx="1783080" cy="3108960"/>
          </a:xfrm>
          <a:prstGeom prst="roundRect">
            <a:avLst>
              <a:gd name="adj" fmla="val 4103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36676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pic>
        <p:nvPicPr>
          <p:cNvPr id="31" name="Image 4" descr="/home/claude/deck/assets/skull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5380" y="2926080"/>
            <a:ext cx="731520" cy="7315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339328" y="38404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8366760" y="42519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backdoor or malware for persistent access.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10012680" y="3749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1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10149840" y="2331720"/>
            <a:ext cx="1783080" cy="3108960"/>
          </a:xfrm>
          <a:prstGeom prst="roundRect">
            <a:avLst>
              <a:gd name="adj" fmla="val 4103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028700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pic>
        <p:nvPicPr>
          <p:cNvPr id="37" name="Image 5" descr="/home/claude/deck/assets/globe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5620" y="2926080"/>
            <a:ext cx="731520" cy="73152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259568" y="38404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Exfiltrate</a:t>
            </a:r>
            <a:endParaRPr lang="en-US" sz="1450" dirty="0"/>
          </a:p>
        </p:txBody>
      </p:sp>
      <p:sp>
        <p:nvSpPr>
          <p:cNvPr id="39" name="Text 31"/>
          <p:cNvSpPr txBox="1"/>
          <p:nvPr/>
        </p:nvSpPr>
        <p:spPr>
          <a:xfrm>
            <a:off x="10287000" y="42519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Command-and-control, then quietly extract the data.</a:t>
            </a:r>
            <a:endParaRPr lang="en-US" sz="950" dirty="0"/>
          </a:p>
        </p:txBody>
      </p:sp>
      <p:sp>
        <p:nvSpPr>
          <p:cNvPr id="40" name="Text 3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• DDOS FLOOD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DENIAL OF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50976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1163A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0" y="521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89720" y="288036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0D1236"/>
          </a:solidFill>
          <a:ln w="25400">
            <a:solidFill>
              <a:srgbClr val="00F5FF"/>
            </a:solidFill>
            <a:prstDash val="solid"/>
          </a:ln>
        </p:spPr>
      </p:sp>
      <p:pic>
        <p:nvPicPr>
          <p:cNvPr id="7" name="Image 0" descr="/home/claude/deck/assets/server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306324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82396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SERVER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234440" y="1874520"/>
            <a:ext cx="7955280" cy="1645920"/>
          </a:xfrm>
          <a:prstGeom prst="line">
            <a:avLst/>
          </a:prstGeom>
          <a:noFill/>
          <a:ln w="12700">
            <a:solidFill>
              <a:srgbClr val="2C3E8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097280" y="1737360"/>
            <a:ext cx="274320" cy="274320"/>
          </a:xfrm>
          <a:prstGeom prst="ellipse">
            <a:avLst/>
          </a:prstGeom>
          <a:solidFill>
            <a:srgbClr val="00F5FF"/>
          </a:solidFill>
          <a:ln/>
        </p:spPr>
      </p:sp>
      <p:sp>
        <p:nvSpPr>
          <p:cNvPr id="11" name="Shape 8"/>
          <p:cNvSpPr/>
          <p:nvPr/>
        </p:nvSpPr>
        <p:spPr>
          <a:xfrm>
            <a:off x="1051560" y="3154680"/>
            <a:ext cx="8138160" cy="365760"/>
          </a:xfrm>
          <a:prstGeom prst="line">
            <a:avLst/>
          </a:prstGeom>
          <a:noFill/>
          <a:ln w="12700">
            <a:solidFill>
              <a:srgbClr val="2C3E8F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914400" y="3017520"/>
            <a:ext cx="274320" cy="274320"/>
          </a:xfrm>
          <a:prstGeom prst="ellipse">
            <a:avLst/>
          </a:prstGeom>
          <a:solidFill>
            <a:srgbClr val="00F5FF"/>
          </a:solidFill>
          <a:ln/>
        </p:spPr>
      </p:sp>
      <p:sp>
        <p:nvSpPr>
          <p:cNvPr id="13" name="Shape 10"/>
          <p:cNvSpPr/>
          <p:nvPr/>
        </p:nvSpPr>
        <p:spPr>
          <a:xfrm>
            <a:off x="1508760" y="4434840"/>
            <a:ext cx="7680960" cy="-914400"/>
          </a:xfrm>
          <a:prstGeom prst="line">
            <a:avLst/>
          </a:prstGeom>
          <a:noFill/>
          <a:ln w="12700">
            <a:solidFill>
              <a:srgbClr val="2C3E8F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1371600" y="4297680"/>
            <a:ext cx="274320" cy="274320"/>
          </a:xfrm>
          <a:prstGeom prst="ellipse">
            <a:avLst/>
          </a:prstGeom>
          <a:solidFill>
            <a:srgbClr val="00F5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5989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ordinary requests reach the server — normal traffic, handled instantly.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555480" y="466344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D1236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555480" y="4681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ONLINE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• DDOS FLOOD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DENIAL OF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50976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1163A"/>
          </a:solidFill>
          <a:ln w="12700">
            <a:solidFill>
              <a:srgbClr val="FF1E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0" y="521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89720" y="288036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0D1236"/>
          </a:solidFill>
          <a:ln w="25400">
            <a:solidFill>
              <a:srgbClr val="FF1E56"/>
            </a:solidFill>
            <a:prstDash val="solid"/>
          </a:ln>
        </p:spPr>
      </p:sp>
      <p:pic>
        <p:nvPicPr>
          <p:cNvPr id="7" name="Image 0" descr="/home/claude/deck/assets/server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306324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82396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SERVER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234440" y="1874520"/>
            <a:ext cx="7955280" cy="1645920"/>
          </a:xfrm>
          <a:prstGeom prst="line">
            <a:avLst/>
          </a:prstGeom>
          <a:noFill/>
          <a:ln w="19050">
            <a:solidFill>
              <a:srgbClr val="FF1E56">
                <a:alpha val="7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737360"/>
            <a:ext cx="292608" cy="292608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11" name="Shape 8"/>
          <p:cNvSpPr/>
          <p:nvPr/>
        </p:nvSpPr>
        <p:spPr>
          <a:xfrm>
            <a:off x="1051560" y="3154680"/>
            <a:ext cx="8138160" cy="365760"/>
          </a:xfrm>
          <a:prstGeom prst="line">
            <a:avLst/>
          </a:prstGeom>
          <a:noFill/>
          <a:ln w="19050">
            <a:solidFill>
              <a:srgbClr val="FF1E56">
                <a:alpha val="7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3017520"/>
            <a:ext cx="292608" cy="292608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13" name="Shape 10"/>
          <p:cNvSpPr/>
          <p:nvPr/>
        </p:nvSpPr>
        <p:spPr>
          <a:xfrm>
            <a:off x="1508760" y="4434840"/>
            <a:ext cx="7680960" cy="-914400"/>
          </a:xfrm>
          <a:prstGeom prst="line">
            <a:avLst/>
          </a:prstGeom>
          <a:noFill/>
          <a:ln w="19050">
            <a:solidFill>
              <a:srgbClr val="FF1E56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71600" y="4297680"/>
            <a:ext cx="292608" cy="292608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15" name="Shape 12"/>
          <p:cNvSpPr/>
          <p:nvPr/>
        </p:nvSpPr>
        <p:spPr>
          <a:xfrm>
            <a:off x="2240280" y="2514600"/>
            <a:ext cx="6949440" cy="1005840"/>
          </a:xfrm>
          <a:prstGeom prst="line">
            <a:avLst/>
          </a:prstGeom>
          <a:noFill/>
          <a:ln w="19050">
            <a:solidFill>
              <a:srgbClr val="FF1E56">
                <a:alpha val="7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03120" y="2377440"/>
            <a:ext cx="292608" cy="292608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17" name="Shape 14"/>
          <p:cNvSpPr/>
          <p:nvPr/>
        </p:nvSpPr>
        <p:spPr>
          <a:xfrm>
            <a:off x="2148840" y="5257800"/>
            <a:ext cx="7040880" cy="-1737360"/>
          </a:xfrm>
          <a:prstGeom prst="line">
            <a:avLst/>
          </a:prstGeom>
          <a:noFill/>
          <a:ln w="19050">
            <a:solidFill>
              <a:srgbClr val="FF1E56">
                <a:alpha val="7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0" y="5120640"/>
            <a:ext cx="292608" cy="292608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19" name="Shape 16"/>
          <p:cNvSpPr/>
          <p:nvPr/>
        </p:nvSpPr>
        <p:spPr>
          <a:xfrm>
            <a:off x="1051560" y="5806440"/>
            <a:ext cx="8138160" cy="-2286000"/>
          </a:xfrm>
          <a:prstGeom prst="line">
            <a:avLst/>
          </a:prstGeom>
          <a:noFill/>
          <a:ln w="19050">
            <a:solidFill>
              <a:srgbClr val="FF1E56">
                <a:alpha val="75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4400" y="5669280"/>
            <a:ext cx="292608" cy="292608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21" name="Shape 18"/>
          <p:cNvSpPr/>
          <p:nvPr/>
        </p:nvSpPr>
        <p:spPr>
          <a:xfrm>
            <a:off x="2971800" y="1600200"/>
            <a:ext cx="6217920" cy="1920240"/>
          </a:xfrm>
          <a:prstGeom prst="line">
            <a:avLst/>
          </a:prstGeom>
          <a:noFill/>
          <a:ln w="19050">
            <a:solidFill>
              <a:srgbClr val="FF1E56">
                <a:alpha val="7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34640" y="1463040"/>
            <a:ext cx="292608" cy="292608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23" name="Shape 20"/>
          <p:cNvSpPr/>
          <p:nvPr/>
        </p:nvSpPr>
        <p:spPr>
          <a:xfrm>
            <a:off x="3246120" y="3794760"/>
            <a:ext cx="5943600" cy="-274320"/>
          </a:xfrm>
          <a:prstGeom prst="line">
            <a:avLst/>
          </a:prstGeom>
          <a:noFill/>
          <a:ln w="19050">
            <a:solidFill>
              <a:srgbClr val="FF1E56">
                <a:alpha val="7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08960" y="3657600"/>
            <a:ext cx="292608" cy="292608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6080760"/>
            <a:ext cx="6400800" cy="-2560320"/>
          </a:xfrm>
          <a:prstGeom prst="line">
            <a:avLst/>
          </a:prstGeom>
          <a:noFill/>
          <a:ln w="19050">
            <a:solidFill>
              <a:srgbClr val="FF1E56">
                <a:alpha val="7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651760" y="5943600"/>
            <a:ext cx="292608" cy="292608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48640" y="5989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hijacked botnet of infected devices floods the server with junk requests all at once.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555480" y="46634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0D1236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55480" y="4681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OVERLOADED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• DDOS FLOOD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DENIAL OF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50976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1163A"/>
          </a:solidFill>
          <a:ln w="12700">
            <a:solidFill>
              <a:srgbClr val="FF1E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0" y="521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89720" y="288036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0D1236"/>
          </a:solidFill>
          <a:ln w="25400">
            <a:solidFill>
              <a:srgbClr val="FF1E56"/>
            </a:solidFill>
            <a:prstDash val="solid"/>
          </a:ln>
        </p:spPr>
      </p:sp>
      <p:pic>
        <p:nvPicPr>
          <p:cNvPr id="7" name="Image 0" descr="/home/claude/deck/assets/server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306324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82396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SERVER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234440" y="1874520"/>
            <a:ext cx="7955280" cy="1645920"/>
          </a:xfrm>
          <a:prstGeom prst="line">
            <a:avLst/>
          </a:prstGeom>
          <a:noFill/>
          <a:ln w="9525">
            <a:solidFill>
              <a:srgbClr val="FF1E56">
                <a:alpha val="40000"/>
              </a:srgbClr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097280" y="1737360"/>
            <a:ext cx="201168" cy="201168"/>
          </a:xfrm>
          <a:prstGeom prst="ellipse">
            <a:avLst/>
          </a:prstGeom>
          <a:solidFill>
            <a:srgbClr val="FF1E56">
              <a:alpha val="6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51560" y="3154680"/>
            <a:ext cx="8138160" cy="365760"/>
          </a:xfrm>
          <a:prstGeom prst="line">
            <a:avLst/>
          </a:prstGeom>
          <a:noFill/>
          <a:ln w="9525">
            <a:solidFill>
              <a:srgbClr val="FF1E56">
                <a:alpha val="40000"/>
              </a:srgbClr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914400" y="3017520"/>
            <a:ext cx="201168" cy="201168"/>
          </a:xfrm>
          <a:prstGeom prst="ellipse">
            <a:avLst/>
          </a:prstGeom>
          <a:solidFill>
            <a:srgbClr val="FF1E56">
              <a:alpha val="6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508760" y="4434840"/>
            <a:ext cx="7680960" cy="-914400"/>
          </a:xfrm>
          <a:prstGeom prst="line">
            <a:avLst/>
          </a:prstGeom>
          <a:noFill/>
          <a:ln w="9525">
            <a:solidFill>
              <a:srgbClr val="FF1E56">
                <a:alpha val="40000"/>
              </a:srgbClr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1371600" y="4297680"/>
            <a:ext cx="201168" cy="201168"/>
          </a:xfrm>
          <a:prstGeom prst="ellipse">
            <a:avLst/>
          </a:prstGeom>
          <a:solidFill>
            <a:srgbClr val="FF1E56">
              <a:alpha val="6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2240280" y="2514600"/>
            <a:ext cx="6949440" cy="1005840"/>
          </a:xfrm>
          <a:prstGeom prst="line">
            <a:avLst/>
          </a:prstGeom>
          <a:noFill/>
          <a:ln w="9525">
            <a:solidFill>
              <a:srgbClr val="FF1E56">
                <a:alpha val="40000"/>
              </a:srgbClr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2103120" y="2377440"/>
            <a:ext cx="201168" cy="201168"/>
          </a:xfrm>
          <a:prstGeom prst="ellipse">
            <a:avLst/>
          </a:prstGeom>
          <a:solidFill>
            <a:srgbClr val="FF1E56">
              <a:alpha val="6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2148840" y="5257800"/>
            <a:ext cx="7040880" cy="-1737360"/>
          </a:xfrm>
          <a:prstGeom prst="line">
            <a:avLst/>
          </a:prstGeom>
          <a:noFill/>
          <a:ln w="9525">
            <a:solidFill>
              <a:srgbClr val="FF1E56">
                <a:alpha val="40000"/>
              </a:srgbClr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2011680" y="5120640"/>
            <a:ext cx="201168" cy="201168"/>
          </a:xfrm>
          <a:prstGeom prst="ellipse">
            <a:avLst/>
          </a:prstGeom>
          <a:solidFill>
            <a:srgbClr val="FF1E56">
              <a:alpha val="6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051560" y="5806440"/>
            <a:ext cx="8138160" cy="-2286000"/>
          </a:xfrm>
          <a:prstGeom prst="line">
            <a:avLst/>
          </a:prstGeom>
          <a:noFill/>
          <a:ln w="9525">
            <a:solidFill>
              <a:srgbClr val="FF1E56">
                <a:alpha val="40000"/>
              </a:srgbClr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914400" y="5669280"/>
            <a:ext cx="201168" cy="201168"/>
          </a:xfrm>
          <a:prstGeom prst="ellipse">
            <a:avLst/>
          </a:prstGeom>
          <a:solidFill>
            <a:srgbClr val="FF1E56">
              <a:alpha val="6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971800" y="1600200"/>
            <a:ext cx="6217920" cy="1920240"/>
          </a:xfrm>
          <a:prstGeom prst="line">
            <a:avLst/>
          </a:prstGeom>
          <a:noFill/>
          <a:ln w="9525">
            <a:solidFill>
              <a:srgbClr val="FF1E56">
                <a:alpha val="40000"/>
              </a:srgbClr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2834640" y="1463040"/>
            <a:ext cx="201168" cy="201168"/>
          </a:xfrm>
          <a:prstGeom prst="ellipse">
            <a:avLst/>
          </a:prstGeom>
          <a:solidFill>
            <a:srgbClr val="FF1E56">
              <a:alpha val="6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3246120" y="3794760"/>
            <a:ext cx="5943600" cy="-274320"/>
          </a:xfrm>
          <a:prstGeom prst="line">
            <a:avLst/>
          </a:prstGeom>
          <a:noFill/>
          <a:ln w="9525">
            <a:solidFill>
              <a:srgbClr val="FF1E56">
                <a:alpha val="40000"/>
              </a:srgbClr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3108960" y="3657600"/>
            <a:ext cx="201168" cy="201168"/>
          </a:xfrm>
          <a:prstGeom prst="ellipse">
            <a:avLst/>
          </a:prstGeom>
          <a:solidFill>
            <a:srgbClr val="FF1E56">
              <a:alpha val="6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6080760"/>
            <a:ext cx="6400800" cy="-2560320"/>
          </a:xfrm>
          <a:prstGeom prst="line">
            <a:avLst/>
          </a:prstGeom>
          <a:noFill/>
          <a:ln w="9525">
            <a:solidFill>
              <a:srgbClr val="FF1E56">
                <a:alpha val="40000"/>
              </a:srgbClr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2651760" y="5943600"/>
            <a:ext cx="201168" cy="201168"/>
          </a:xfrm>
          <a:prstGeom prst="ellipse">
            <a:avLst/>
          </a:prstGeom>
          <a:solidFill>
            <a:srgbClr val="FF1E56">
              <a:alpha val="60000"/>
            </a:srgbClr>
          </a:solidFill>
          <a:ln/>
        </p:spPr>
      </p:sp>
      <p:pic>
        <p:nvPicPr>
          <p:cNvPr id="27" name="Image 1" descr="/home/claude/deck/assets/shield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3063240"/>
            <a:ext cx="914400" cy="9144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8640" y="5989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Rate-limiting and traffic scrubbing absorb the flood — legitimate users stay connected.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9555480" y="466344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0D1236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555480" y="4681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MITIGATED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PROFILE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Man-In-The-Middle (MITM)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60120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1163A"/>
          </a:solidFill>
          <a:ln w="12700">
            <a:solidFill>
              <a:srgbClr val="FF1E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0" y="521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INTERCEPTION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secretly sits between two parties who believe they’re talking directly to each other — reading, and sometimes altering, every message.</a:t>
            </a:r>
            <a:endParaRPr lang="en-US" sz="1350" dirty="0"/>
          </a:p>
        </p:txBody>
      </p:sp>
      <p:pic>
        <p:nvPicPr>
          <p:cNvPr id="7" name="Image 0" descr="/home/claude/deck/assets/laptop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914400" cy="914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pic>
        <p:nvPicPr>
          <p:cNvPr id="9" name="Image 1" descr="/home/claude/deck/assets/clou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74320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96696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WEBSITE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828800" y="3200400"/>
            <a:ext cx="4160520" cy="0"/>
          </a:xfrm>
          <a:prstGeom prst="line">
            <a:avLst/>
          </a:prstGeom>
          <a:noFill/>
          <a:ln w="19050">
            <a:solidFill>
              <a:srgbClr val="6B75A8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6355080" y="3200400"/>
            <a:ext cx="4069080" cy="0"/>
          </a:xfrm>
          <a:prstGeom prst="line">
            <a:avLst/>
          </a:prstGeom>
          <a:noFill/>
          <a:ln w="19050">
            <a:solidFill>
              <a:srgbClr val="6B75A8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5120640" y="260604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E0A16"/>
          </a:solidFill>
          <a:ln w="25400">
            <a:solidFill>
              <a:srgbClr val="FF1E56"/>
            </a:solidFill>
            <a:prstDash val="solid"/>
          </a:ln>
        </p:spPr>
      </p:sp>
      <p:pic>
        <p:nvPicPr>
          <p:cNvPr id="14" name="Image 2" descr="/home/claude/deck/assets/mask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788920"/>
            <a:ext cx="1097280" cy="9144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37760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Position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440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joins an insecure Wi-Fi or spoofs DNS/ARP to sit on the path.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34340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Intercept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343400" y="5440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between user and site is silently routed through the attacker.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13816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Harvest / Alter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138160" y="5440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session tokens, or payment details are read or modified in transit.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PROFILE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&amp; Social Engineering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60120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1163A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0" y="521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LAYER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weakest link is rarely the firewall — it’s a convincing email that asks someone to click, log in, or pay.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6035040" cy="3566160"/>
          </a:xfrm>
          <a:prstGeom prst="roundRect">
            <a:avLst>
              <a:gd name="adj" fmla="val 2051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6035040" cy="502920"/>
          </a:xfrm>
          <a:prstGeom prst="rect">
            <a:avLst/>
          </a:prstGeom>
          <a:solidFill>
            <a:srgbClr val="10173F"/>
          </a:solidFill>
          <a:ln/>
        </p:spPr>
      </p:sp>
      <p:pic>
        <p:nvPicPr>
          <p:cNvPr id="9" name="Image 0" descr="/home/claude/deck/assets/envelope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0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54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1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IT-Support@secure-verify-account.com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474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⚠ Your password expires in 2 hours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886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sign-in activity. To avoid suspension, verify your identity immediately by confirming your credentials below.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46177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1E5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8680" y="4617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MY ACCOUNT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5257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secure-verify-account.com/login — not the real domain</a:t>
            </a:r>
            <a:endParaRPr lang="en-US" sz="950" dirty="0"/>
          </a:p>
        </p:txBody>
      </p:sp>
      <p:pic>
        <p:nvPicPr>
          <p:cNvPr id="17" name="Image 1" descr="/home/claude/deck/assets/triangle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525780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94944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SPOT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949440" y="3108960"/>
            <a:ext cx="164592" cy="164592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0" y="295351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fear-based subject line pressuring quick action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949440" y="3886200"/>
            <a:ext cx="164592" cy="164592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315200" y="37307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 that mimics but doesn’t match the real one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949440" y="4663440"/>
            <a:ext cx="164592" cy="164592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0" y="450799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instead of your actual name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949440" y="5440680"/>
            <a:ext cx="164592" cy="164592"/>
          </a:xfrm>
          <a:prstGeom prst="ellipse">
            <a:avLst/>
          </a:prstGeom>
          <a:solidFill>
            <a:srgbClr val="FF1E56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315200" y="528523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that doesn’t match the destination it claims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PROFILE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60120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1163A"/>
          </a:solidFill>
          <a:ln w="12700">
            <a:solidFill>
              <a:srgbClr val="FF1E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0" y="521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LAYER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user input is inserted straight into a database query, an attacker can rewrite the query itself.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090C24"/>
          </a:solidFill>
          <a:ln w="19050">
            <a:solidFill>
              <a:srgbClr val="39FF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5349240" cy="457200"/>
          </a:xfrm>
          <a:prstGeom prst="rect">
            <a:avLst/>
          </a:prstGeom>
          <a:solidFill>
            <a:srgbClr val="1017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5420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LOGIN QUERY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118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username = 'alice'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690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password = '••••••••';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090C24"/>
          </a:solidFill>
          <a:ln w="19050">
            <a:solidFill>
              <a:srgbClr val="FF1E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468880"/>
            <a:ext cx="5349240" cy="457200"/>
          </a:xfrm>
          <a:prstGeom prst="rect">
            <a:avLst/>
          </a:prstGeom>
          <a:solidFill>
            <a:srgbClr val="1017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5420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QUERY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154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6118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username = 'admin'--'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0690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password = '';</a:t>
            </a:r>
            <a:endParaRPr lang="en-US" sz="1300" dirty="0"/>
          </a:p>
        </p:txBody>
      </p:sp>
      <p:pic>
        <p:nvPicPr>
          <p:cNvPr id="19" name="Image 0" descr="/home/claude/deck/assets/bolt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566160"/>
            <a:ext cx="640080" cy="6400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trailing  --  comments out the password check entirely, so the query returns the admin row with no valid password required.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control stops every attack — layered defenses catch what the previous layer missed.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60320"/>
            <a:ext cx="548640" cy="548640"/>
          </a:xfrm>
          <a:prstGeom prst="ellipse">
            <a:avLst/>
          </a:prstGeom>
          <a:solidFill>
            <a:srgbClr val="0A2A20"/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7" name="Image 0" descr="/home/claude/deck/assets/shield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532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Firewalls, WAFs, and DDoS scrubbing filter traffic before it reaches your network.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23317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560320"/>
            <a:ext cx="548640" cy="548640"/>
          </a:xfrm>
          <a:prstGeom prst="ellipse">
            <a:avLst/>
          </a:prstGeom>
          <a:solidFill>
            <a:srgbClr val="0A2A20"/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12" name="Image 1" descr="/home/claude/deck/assets/lo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6974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57800" y="2532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everywhere defeats MITM eavesdropping and protects data in transit.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23317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75320" y="2560320"/>
            <a:ext cx="548640" cy="548640"/>
          </a:xfrm>
          <a:prstGeom prst="ellipse">
            <a:avLst/>
          </a:prstGeom>
          <a:solidFill>
            <a:srgbClr val="0A2A20"/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17" name="Image 2" descr="/home/claude/deck/assets/fingerprin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6974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06840" y="2532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least-privilege access limit what a stolen credential can actually do.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0A2A20"/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22" name="Image 3" descr="/home/claude/deck/assets/bug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262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08760" y="4361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Code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4937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and input validation close off injection attacks.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97680" y="4160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26280" y="4389120"/>
            <a:ext cx="548640" cy="548640"/>
          </a:xfrm>
          <a:prstGeom prst="ellipse">
            <a:avLst/>
          </a:prstGeom>
          <a:solidFill>
            <a:srgbClr val="0A2A20"/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27" name="Image 4" descr="/home/claude/deck/assets/eye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52628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57800" y="4361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4526280" y="4937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detection and logging catch intrusions the other layers miss.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46720" y="4160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75320" y="4389120"/>
            <a:ext cx="548640" cy="548640"/>
          </a:xfrm>
          <a:prstGeom prst="ellipse">
            <a:avLst/>
          </a:prstGeom>
          <a:solidFill>
            <a:srgbClr val="0A2A20"/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32" name="Image 5" descr="/home/claude/deck/assets/robot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52628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06840" y="4361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275320" y="4937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simulations and training turn users into a detection layer, not a weak one.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Simulations Worth Adding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build with the same node-and-line / step-morph style used for the DDoS demo.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pic>
        <p:nvPicPr>
          <p:cNvPr id="6" name="Image 0" descr="/home/claude/deck/assets/wifi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685800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715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 Sniffing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313639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packets flowing across a shared Wi-Fi; highlight one being copied by an eavesdropper node.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25146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pic>
        <p:nvPicPr>
          <p:cNvPr id="10" name="Image 1" descr="/home/claude/deck/assets/key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3464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2715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Brute-Force Login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313639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field cycling through guesses with a counter, then a lock icon flipping to unlocked.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4805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pic>
        <p:nvPicPr>
          <p:cNvPr id="14" name="Image 2" descr="/home/claude/deck/assets/databas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00600"/>
            <a:ext cx="685800" cy="6858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4681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 Spread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510235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on a folder grid turning red/locked one by one as encryption spreads across a network map.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17920" y="44805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0D1236"/>
          </a:solidFill>
          <a:ln w="12700">
            <a:solidFill>
              <a:srgbClr val="1C2555"/>
            </a:solidFill>
            <a:prstDash val="solid"/>
          </a:ln>
        </p:spPr>
      </p:sp>
      <p:pic>
        <p:nvPicPr>
          <p:cNvPr id="18" name="Image 3" descr="/home/claude/deck/assets/glob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800600"/>
            <a:ext cx="685800" cy="6858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60920" y="4681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Spoofing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7360920" y="510235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request to a real domain silently rerouted to a fake IP on a mini network diagram.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orb_green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-1828800" y="-1828800"/>
            <a:ext cx="5486400" cy="5486400"/>
          </a:xfrm>
          <a:prstGeom prst="rect">
            <a:avLst/>
          </a:prstGeom>
        </p:spPr>
      </p:pic>
      <p:pic>
        <p:nvPicPr>
          <p:cNvPr id="3" name="Image 1" descr="/home/claude/deck/assets/orb_red.png">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8229600" y="320040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THOUGHT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Attack Has A Pattern.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Pattern Has A Defense.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4114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A6A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DDoS floods, MITM interception, phishing, and SQL injection actually work is the fastest path to stopping them.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822960" y="5303520"/>
            <a:ext cx="10515600" cy="0"/>
          </a:xfrm>
          <a:prstGeom prst="line">
            <a:avLst/>
          </a:prstGeom>
          <a:noFill/>
          <a:ln w="12700">
            <a:solidFill>
              <a:srgbClr val="1C255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5532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2026-09-13T09:36:17Z</dcterms:created>
  <dcterms:modified xsi:type="dcterms:W3CDTF">2026-09-13T09:36:17Z</dcterms:modified>
</cp:coreProperties>
</file>